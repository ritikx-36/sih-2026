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 tIns="36576" bIns="36576">
            <a:norm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222A33"/>
                </a:solidFill>
                <a:latin typeface="Arial"/>
              </a:rPr>
              <a:t>Problem Statement ID – 26051</a:t>
            </a:r>
            <a:endParaRPr lang="en-US" dirty="0"/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22A33"/>
                </a:solidFill>
                <a:latin typeface="Arial"/>
              </a:rPr>
              <a:t>Problem Statement Title – Software-Based Model Development for Design of Area-Specific Shelter for Thermal Comfort Maintenance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22A33"/>
                </a:solidFill>
                <a:latin typeface="Arial"/>
              </a:rPr>
              <a:t>Theme – «Theme, as listed against PS 26051 on the SIH portal»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22A33"/>
                </a:solidFill>
                <a:latin typeface="Arial"/>
              </a:rPr>
              <a:t>PS Category – Software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22A33"/>
                </a:solidFill>
                <a:latin typeface="Arial"/>
              </a:rPr>
              <a:t>Team ID – «Your Team ID»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222A33"/>
                </a:solidFill>
                <a:latin typeface="Arial"/>
              </a:rPr>
              <a:t>Team Name – «Your Team Name, as registered on the portal»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2500" b="1">
                <a:solidFill>
                  <a:srgbClr val="0070C0"/>
                </a:solidFill>
                <a:latin typeface="Times New Roman"/>
              </a:rPr>
              <a:t>Thermal-Shelter — a shelter that stays warm on sunlight, not fuel.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11480" y="1325880"/>
            <a:ext cx="6537960" cy="4892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36576" bIns="36576">
            <a:normAutofit/>
          </a:bodyPr>
          <a:lstStyle/>
          <a:p>
            <a:pPr marL="342900" indent="-342900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r>
              <a:rPr sz="1800" b="1">
                <a:solidFill>
                  <a:srgbClr val="0070C0"/>
                </a:solidFill>
                <a:latin typeface="Arial"/>
              </a:rPr>
              <a:t>Proposed solution — what it is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lnSpc>
                <a:spcPct val="102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222A33"/>
                </a:solidFill>
                <a:latin typeface="Arial"/>
              </a:rPr>
              <a:t>A design tool for cold, high-altitude shelters (Ladakh &amp; border posts) that hold comfort on sunlight and smart materials — with little or no active heating.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500" b="0">
                <a:solidFill>
                  <a:srgbClr val="222A33"/>
                </a:solidFill>
                <a:latin typeface="Arial"/>
              </a:rPr>
              <a:t>You give it the site climate, the shelter's shape, and its materials; it simulates a full day–night cycle and outputs exactly what the problem asks: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Indoor temperature over time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Solar thermal energy captured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Heat-flow vs ambient over the period</a:t>
            </a:r>
          </a:p>
          <a:p>
            <a:pPr>
              <a:lnSpc>
                <a:spcPct val="102000"/>
              </a:lnSpc>
              <a:spcBef>
                <a:spcPts val="400"/>
              </a:spcBef>
              <a:spcAft>
                <a:spcPts val="200"/>
              </a:spcAft>
            </a:pPr>
            <a:r>
              <a:rPr sz="1500" b="0">
                <a:solidFill>
                  <a:srgbClr val="222A33"/>
                </a:solidFill>
                <a:latin typeface="Arial"/>
              </a:rPr>
              <a:t>Then redesign it live — walls, glazing, orientation, thermal mass — and watch the heating it needs fall toward zero.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800" b="1">
                <a:solidFill>
                  <a:srgbClr val="0070C0"/>
                </a:solidFill>
                <a:latin typeface="Arial"/>
              </a:rPr>
              <a:t>What makes it different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Models the night and the cold sky (air −14 °C, sky ≈ −45 °C) — not just the average.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Stores the sun in thermal mass — stone, water walls, PCM.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Area-specific: one engine, any cold site (Leh, Drass, Siachen, Tawang).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Fast — under 1 second per design — so you optimise, not guess. ANSYS validates the winner.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«Your Team Name»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3" name="Picture 15362" descr="demo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2331720"/>
            <a:ext cx="4617720" cy="2308860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7269480" y="4686299"/>
            <a:ext cx="46177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50" i="1">
                <a:solidFill>
                  <a:srgbClr val="66707A"/>
                </a:solidFill>
                <a:latin typeface="Arial"/>
              </a:rPr>
              <a:t>Simulated Leh winter — the passive design (blue) climbs into the comfort band on sunlight; the baseline hut (red) tracks the freezing air.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11480" y="1234440"/>
            <a:ext cx="553212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36576" bIns="36576">
            <a:normAutofit/>
          </a:bodyPr>
          <a:lstStyle/>
          <a:p>
            <a:pPr marL="342900" indent="-342900" algn="just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0070C0"/>
                </a:solidFill>
                <a:latin typeface="Arial"/>
              </a:rPr>
              <a:t>Technologies used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Python 3.12 — NumPy · SciPy · pandas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pvlib — solar position &amp; clear-sky irradiance (snow albedo)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Streamlit + Plotly — the live design dashboard (prototype, right)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matplotlib — figures &amp; reporting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ANSYS — CFD / thermal cross-validation (later phase)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700" b="1">
                <a:solidFill>
                  <a:srgbClr val="0070C0"/>
                </a:solidFill>
                <a:latin typeface="Arial"/>
              </a:rPr>
              <a:t>Methodology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Lumped resistance–capacitance (RC) thermal network, stepped through time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Driven by sol-air outdoor temperature + long-wave night-sky cooling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pvlib solar irradiance on every wall, roof and window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Score comfort (% time in 18–24 °C) and energy (kWh/day to hold 20 °C)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Compare &amp; rank designs by material, size, orientation and glazing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«Your Team Name»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1" name="Picture 17410" descr="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80160"/>
            <a:ext cx="5577840" cy="3138319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217920" y="4455055"/>
            <a:ext cx="557784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50" i="1">
                <a:solidFill>
                  <a:srgbClr val="66707A"/>
                </a:solidFill>
                <a:latin typeface="Arial"/>
              </a:rPr>
              <a:t>Working prototype — the live design studio (Streamlit).</a:t>
            </a:r>
          </a:p>
        </p:txBody>
      </p:sp>
      <p:pic>
        <p:nvPicPr>
          <p:cNvPr id="17413" name="Picture 17412" descr="deck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882896"/>
            <a:ext cx="5303520" cy="14142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40080" y="1280160"/>
            <a:ext cx="10972800" cy="4892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36576" bIns="36576">
            <a:norm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700" b="1">
                <a:solidFill>
                  <a:srgbClr val="0070C0"/>
                </a:solidFill>
                <a:latin typeface="Arial"/>
              </a:rPr>
              <a:t>Why it's feasible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Built on standard, peer-reviewed physics — ASHRAE sol-air &amp; RC networks, Berdahl–Martin sky emissivity. Defensible, not a black box.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Uses the mature, widely trusted pvlib solar model.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Pure software — runs on any laptop, with no field hardware to build.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The working prototype already reproduces the passive-design behaviour we expect.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700" b="1">
                <a:solidFill>
                  <a:srgbClr val="0070C0"/>
                </a:solidFill>
                <a:latin typeface="Arial"/>
              </a:rPr>
              <a:t>Viability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Cheap, fast and reusable across regions: screen hundreds of designs in software, then validate only the winner in CFD — where each case would otherwise take hours.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700" b="1">
                <a:solidFill>
                  <a:srgbClr val="0070C0"/>
                </a:solidFill>
                <a:latin typeface="Arial"/>
              </a:rPr>
              <a:t>Potential challenges → how we overcome them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Sparse climate data for remote posts → accept user CSV + a typical-day generator + built-in region presets.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A lumped RC model simplifies real 3-D heat flow → validate and calibrate the shortlisted design in ANSYS CFD.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Material properties vary by source → a sourced, editable material-property database.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«Your Team Name»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40080" y="1280160"/>
            <a:ext cx="6446520" cy="4892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36576" bIns="36576">
            <a:norm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800" b="1">
                <a:solidFill>
                  <a:srgbClr val="1D6B34"/>
                </a:solidFill>
                <a:latin typeface="Arial"/>
              </a:rPr>
              <a:t>82–86% less heating than a baseline hut</a:t>
            </a:r>
          </a:p>
          <a:p>
            <a:pPr>
              <a:lnSpc>
                <a:spcPct val="102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Verified across cold sites over 5 clear winter days, holding 20 °C.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700" b="1">
                <a:solidFill>
                  <a:srgbClr val="0070C0"/>
                </a:solidFill>
                <a:latin typeface="Arial"/>
              </a:rPr>
              <a:t>Who it helps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Armed forces &amp; border posts · high-altitude communities · disaster relief.</a:t>
            </a:r>
          </a:p>
          <a:p>
            <a:pPr>
              <a:lnSpc>
                <a:spcPct val="102000"/>
              </a:lnSpc>
              <a:spcBef>
                <a:spcPts val="800"/>
              </a:spcBef>
              <a:spcAft>
                <a:spcPts val="200"/>
              </a:spcAft>
            </a:pPr>
            <a:r>
              <a:rPr sz="1700" b="1">
                <a:solidFill>
                  <a:srgbClr val="0070C0"/>
                </a:solidFill>
                <a:latin typeface="Arial"/>
              </a:rPr>
              <a:t>Benefits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Economic — far less diesel and kerosene hauled to remote posts; designs done in minutes, not months.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Environmental — less combustion means lower emissions in fragile Himalayan ecosystems.</a:t>
            </a:r>
          </a:p>
          <a:p>
            <a:pPr lvl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Operational &amp; social — energy resilience where supply lines are thin; warmer, safer shelters; fewer cold-related injuries.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«Your Team Name»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1" name="Picture 17410" descr="deck_reg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965960"/>
            <a:ext cx="4526280" cy="2231264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7315200" y="4242944"/>
            <a:ext cx="452628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50" i="1">
                <a:solidFill>
                  <a:srgbClr val="66707A"/>
                </a:solidFill>
                <a:latin typeface="Arial"/>
              </a:rPr>
              <a:t>Auxiliary heat to hold 20 °C — passive design vs baseline hut, by region.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40080" y="1371600"/>
            <a:ext cx="109728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36576" bIns="36576">
            <a:norm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500" b="0">
                <a:solidFill>
                  <a:srgbClr val="222A33"/>
                </a:solidFill>
                <a:latin typeface="Arial"/>
              </a:rPr>
              <a:t>pvlib-python (Sandia National Laboratories) — solar position &amp; clear-sky irradiance — https://pvlib-python.readthedocs.io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lnSpc>
                <a:spcPct val="102000"/>
              </a:lnSpc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222A33"/>
                </a:solidFill>
                <a:latin typeface="Arial"/>
              </a:rPr>
              <a:t>Berdahl, P. &amp; Martin, M. (1984), “Emissivity of clear skies” — long-wave radiative night-sky cooling</a:t>
            </a:r>
          </a:p>
          <a:p>
            <a:pPr>
              <a:lnSpc>
                <a:spcPct val="102000"/>
              </a:lnSpc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222A33"/>
                </a:solidFill>
                <a:latin typeface="Arial"/>
              </a:rPr>
              <a:t>ASHRAE Handbook of Fundamentals — sol-air temperature, RC thermal networks, U-values &amp; SHGC</a:t>
            </a:r>
          </a:p>
          <a:p>
            <a:pPr>
              <a:lnSpc>
                <a:spcPct val="102000"/>
              </a:lnSpc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222A33"/>
                </a:solidFill>
                <a:latin typeface="Arial"/>
              </a:rPr>
              <a:t>Balcomb, J. D. / U.S. Department of Energy — passive-solar design: Trombe &amp; water walls, thermal mass</a:t>
            </a:r>
          </a:p>
          <a:p>
            <a:pPr>
              <a:lnSpc>
                <a:spcPct val="102000"/>
              </a:lnSpc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222A33"/>
                </a:solidFill>
                <a:latin typeface="Arial"/>
              </a:rPr>
              <a:t>DRDO–DIHAR (Defence Institute of High-Altitude Research), Leh — high-altitude habitat &amp; thermal-comfort context</a:t>
            </a:r>
          </a:p>
          <a:p>
            <a:pPr>
              <a:lnSpc>
                <a:spcPct val="102000"/>
              </a:lnSpc>
              <a:spcBef>
                <a:spcPts val="600"/>
              </a:spcBef>
              <a:spcAft>
                <a:spcPts val="200"/>
              </a:spcAft>
            </a:pPr>
            <a:r>
              <a:rPr sz="1500" b="0">
                <a:solidFill>
                  <a:srgbClr val="222A33"/>
                </a:solidFill>
                <a:latin typeface="Arial"/>
              </a:rPr>
              <a:t>Project repository — https://github.com/ritikx-36/sih-2026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«Your Team Name»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