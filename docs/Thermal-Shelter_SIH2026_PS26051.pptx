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pvlib-python.readthedocs.io" TargetMode="External"/><Relationship Id="rId5" Type="http://schemas.openxmlformats.org/officeDocument/2006/relationships/hyperlink" Target="https://re.jrc.ec.europa.eu/pvg_tools/en/" TargetMode="External"/><Relationship Id="rId6" Type="http://schemas.openxmlformats.org/officeDocument/2006/relationships/hyperlink" Target="https://github.com/ritikx-36/sih-2026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 tIns="36576" bIns="36576">
            <a:normAutofit/>
          </a:bodyPr>
          <a:lstStyle/>
          <a:p>
            <a:pPr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222A33"/>
                </a:solidFill>
                <a:latin typeface="Arial"/>
              </a:rPr>
              <a:t>Problem Statement ID – 26051</a:t>
            </a:r>
            <a:endParaRPr lang="en-US" dirty="0"/>
          </a:p>
          <a:p>
            <a:pPr>
              <a:lnSpc>
                <a:spcPct val="102000"/>
              </a:lnSpc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222A33"/>
                </a:solidFill>
                <a:latin typeface="Arial"/>
              </a:rPr>
              <a:t>Problem Statement Title – Software-Based Model Development for Design of Area-Specific Shelter for Thermal Comfort Maintenance</a:t>
            </a:r>
          </a:p>
          <a:p>
            <a:pPr>
              <a:lnSpc>
                <a:spcPct val="102000"/>
              </a:lnSpc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222A33"/>
                </a:solidFill>
                <a:latin typeface="Arial"/>
              </a:rPr>
              <a:t>Theme – Miscellaneous</a:t>
            </a:r>
          </a:p>
          <a:p>
            <a:pPr>
              <a:lnSpc>
                <a:spcPct val="102000"/>
              </a:lnSpc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222A33"/>
                </a:solidFill>
                <a:latin typeface="Arial"/>
              </a:rPr>
              <a:t>PS Category – Software</a:t>
            </a:r>
          </a:p>
          <a:p>
            <a:pPr>
              <a:lnSpc>
                <a:spcPct val="102000"/>
              </a:lnSpc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222A33"/>
                </a:solidFill>
                <a:latin typeface="Arial"/>
              </a:rPr>
              <a:t>Team ID – To be allotted after selection</a:t>
            </a:r>
          </a:p>
          <a:p>
            <a:pPr>
              <a:lnSpc>
                <a:spcPct val="102000"/>
              </a:lnSpc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222A33"/>
                </a:solidFill>
                <a:latin typeface="Arial"/>
              </a:rPr>
              <a:t>Team Name – HimTaap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sz="2500" b="1">
                <a:solidFill>
                  <a:srgbClr val="0070C0"/>
                </a:solidFill>
                <a:latin typeface="Times New Roman"/>
              </a:rPr>
              <a:t>Thermal-Shelter — a shelter that stays warm on sunlight, not fuel.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11480" y="1325880"/>
            <a:ext cx="6537960" cy="4892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36576" bIns="36576">
            <a:normAutofit/>
          </a:bodyPr>
          <a:lstStyle/>
          <a:p>
            <a:pPr marL="342900" indent="-342900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sz="1800" b="1">
                <a:solidFill>
                  <a:srgbClr val="0070C0"/>
                </a:solidFill>
                <a:latin typeface="Arial"/>
              </a:rPr>
              <a:t>Proposed solution — what it is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lnSpc>
                <a:spcPct val="102000"/>
              </a:lnSpc>
              <a:spcBef>
                <a:spcPts val="200"/>
              </a:spcBef>
              <a:spcAft>
                <a:spcPts val="200"/>
              </a:spcAft>
            </a:pPr>
            <a:r>
              <a:rPr sz="1500" b="0">
                <a:solidFill>
                  <a:srgbClr val="222A33"/>
                </a:solidFill>
                <a:latin typeface="Arial"/>
              </a:rPr>
              <a:t>A design tool for cold, high-altitude shelters (Ladakh &amp; border posts) that hold comfort on sunlight and smart materials — with little or no active heating.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222A33"/>
                </a:solidFill>
                <a:latin typeface="Arial"/>
              </a:rPr>
              <a:t>You give it the site climate, the shelter's shape, and its materials; it simulates a full day–night cycle and outputs exactly what the problem asks: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22A33"/>
                </a:solidFill>
                <a:latin typeface="Arial"/>
              </a:rPr>
              <a:t>Indoor temperature over time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22A33"/>
                </a:solidFill>
                <a:latin typeface="Arial"/>
              </a:rPr>
              <a:t>Solar thermal energy captured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22A33"/>
                </a:solidFill>
                <a:latin typeface="Arial"/>
              </a:rPr>
              <a:t>Heat-flow vs ambient over the period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500" b="0">
                <a:solidFill>
                  <a:srgbClr val="222A33"/>
                </a:solidFill>
                <a:latin typeface="Arial"/>
              </a:rPr>
              <a:t>Then redesign it live — walls, glazing, orientation, thermal mass — and watch the heating it needs fall toward zero.</a:t>
            </a:r>
          </a:p>
          <a:p>
            <a:pPr>
              <a:lnSpc>
                <a:spcPct val="102000"/>
              </a:lnSpc>
              <a:spcBef>
                <a:spcPts val="800"/>
              </a:spcBef>
              <a:spcAft>
                <a:spcPts val="200"/>
              </a:spcAft>
            </a:pPr>
            <a:r>
              <a:rPr sz="1800" b="1">
                <a:solidFill>
                  <a:srgbClr val="0070C0"/>
                </a:solidFill>
                <a:latin typeface="Arial"/>
              </a:rPr>
              <a:t>What makes it different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22A33"/>
                </a:solidFill>
                <a:latin typeface="Arial"/>
              </a:rPr>
              <a:t>Models the night and the cold sky (air −14 °C, sky ≈ −45 °C) — not just the average.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22A33"/>
                </a:solidFill>
                <a:latin typeface="Arial"/>
              </a:rPr>
              <a:t>Stores the sun in thermal mass — stone, water walls, PCM.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22A33"/>
                </a:solidFill>
                <a:latin typeface="Arial"/>
              </a:rPr>
              <a:t>Area-specific: one engine, any cold site (Leh, Drass, Siachen, Tawang).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22A33"/>
                </a:solidFill>
                <a:latin typeface="Arial"/>
              </a:rPr>
              <a:t>Fast — under 1 second per design — so you optimise, not guess. ANSYS validates the winner.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HimTaap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demo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2331720"/>
            <a:ext cx="4617720" cy="2308860"/>
          </a:xfrm>
          <a:prstGeom prst="rect">
            <a:avLst/>
          </a:prstGeom>
        </p:spPr>
      </p:pic>
      <p:sp>
        <p:nvSpPr>
          <p:cNvPr id="15364" name="TextBox 15363"/>
          <p:cNvSpPr txBox="1"/>
          <p:nvPr/>
        </p:nvSpPr>
        <p:spPr>
          <a:xfrm>
            <a:off x="7269480" y="4686299"/>
            <a:ext cx="46177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50" i="1">
                <a:solidFill>
                  <a:srgbClr val="66707A"/>
                </a:solidFill>
                <a:latin typeface="Arial"/>
              </a:rPr>
              <a:t>Simulated Leh winter — the passive design (blue) climbs into the comfort band on sunlight; the baseline hut (red) tracks the freezing air.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11480" y="1234440"/>
            <a:ext cx="553212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36576" bIns="36576">
            <a:normAutofit/>
          </a:bodyPr>
          <a:lstStyle/>
          <a:p>
            <a:pPr marL="342900" indent="-342900" algn="just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700" b="1">
                <a:solidFill>
                  <a:srgbClr val="0070C0"/>
                </a:solidFill>
                <a:latin typeface="Arial"/>
              </a:rPr>
              <a:t>Technologies used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22A33"/>
                </a:solidFill>
                <a:latin typeface="Arial"/>
              </a:rPr>
              <a:t>Python 3.12 — NumPy · SciPy · pandas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22A33"/>
                </a:solidFill>
                <a:latin typeface="Arial"/>
              </a:rPr>
              <a:t>pvlib — solar position &amp; irradiance: clear-sky or real measured (snow albedo)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22A33"/>
                </a:solidFill>
                <a:latin typeface="Arial"/>
              </a:rPr>
              <a:t>PVGIS / EPW — real measured weather (TMY) fetched live for any site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22A33"/>
                </a:solidFill>
                <a:latin typeface="Arial"/>
              </a:rPr>
              <a:t>Streamlit + Plotly — the live design dashboard (prototype, right)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22A33"/>
                </a:solidFill>
                <a:latin typeface="Arial"/>
              </a:rPr>
              <a:t>matplotlib — figures &amp; reporting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22A33"/>
                </a:solidFill>
                <a:latin typeface="Arial"/>
              </a:rPr>
              <a:t>ANSYS — CFD / thermal cross-validation (later phase)</a:t>
            </a:r>
          </a:p>
          <a:p>
            <a:pPr>
              <a:lnSpc>
                <a:spcPct val="102000"/>
              </a:lnSpc>
              <a:spcBef>
                <a:spcPts val="800"/>
              </a:spcBef>
              <a:spcAft>
                <a:spcPts val="200"/>
              </a:spcAft>
            </a:pPr>
            <a:r>
              <a:rPr sz="1700" b="1">
                <a:solidFill>
                  <a:srgbClr val="0070C0"/>
                </a:solidFill>
                <a:latin typeface="Arial"/>
              </a:rPr>
              <a:t>Methodology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22A33"/>
                </a:solidFill>
                <a:latin typeface="Arial"/>
              </a:rPr>
              <a:t>Lumped resistance–capacitance (RC) thermal network, stepped through time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22A33"/>
                </a:solidFill>
                <a:latin typeface="Arial"/>
              </a:rPr>
              <a:t>Driven by sol-air outdoor temperature + long-wave night-sky cooling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22A33"/>
                </a:solidFill>
                <a:latin typeface="Arial"/>
              </a:rPr>
              <a:t>pvlib solar irradiance on every wall, roof and window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22A33"/>
                </a:solidFill>
                <a:latin typeface="Arial"/>
              </a:rPr>
              <a:t>Runs on a real measured year (PVGIS TMY / EPW) — rolled up month-by-month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22A33"/>
                </a:solidFill>
                <a:latin typeface="Arial"/>
              </a:rPr>
              <a:t>Score comfort (% time in 18–24 °C) and energy (kWh/day to hold 20 °C)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22A33"/>
                </a:solidFill>
                <a:latin typeface="Arial"/>
              </a:rPr>
              <a:t>Compare &amp; rank designs by material, size, orientation and glazing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HimTaap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80160"/>
            <a:ext cx="5577840" cy="3138319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6217920" y="4455055"/>
            <a:ext cx="55778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50" i="1">
                <a:solidFill>
                  <a:srgbClr val="66707A"/>
                </a:solidFill>
                <a:latin typeface="Arial"/>
              </a:rPr>
              <a:t>Working prototype — the live design studio (Streamlit).</a:t>
            </a:r>
          </a:p>
        </p:txBody>
      </p:sp>
      <p:pic>
        <p:nvPicPr>
          <p:cNvPr id="17413" name="Picture 17412" descr="deck_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4882896"/>
            <a:ext cx="5303520" cy="14142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40080" y="1280160"/>
            <a:ext cx="10972800" cy="4892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36576" bIns="36576">
            <a:norm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700" b="1">
                <a:solidFill>
                  <a:srgbClr val="0070C0"/>
                </a:solidFill>
                <a:latin typeface="Arial"/>
              </a:rPr>
              <a:t>Why it's feasible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22A33"/>
                </a:solidFill>
                <a:latin typeface="Arial"/>
              </a:rPr>
              <a:t>Built on standard, peer-reviewed physics — ASHRAE sol-air &amp; RC networks, Berdahl–Martin sky emissivity. Defensible, not a black box.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22A33"/>
                </a:solidFill>
                <a:latin typeface="Arial"/>
              </a:rPr>
              <a:t>Uses the mature, widely trusted pvlib solar model.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22A33"/>
                </a:solidFill>
                <a:latin typeface="Arial"/>
              </a:rPr>
              <a:t>Pure software — runs on any laptop, with no field hardware to build.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22A33"/>
                </a:solidFill>
                <a:latin typeface="Arial"/>
              </a:rPr>
              <a:t>The working prototype already reproduces the passive-design behaviour we expect.</a:t>
            </a:r>
          </a:p>
          <a:p>
            <a:pPr>
              <a:lnSpc>
                <a:spcPct val="102000"/>
              </a:lnSpc>
              <a:spcBef>
                <a:spcPts val="800"/>
              </a:spcBef>
              <a:spcAft>
                <a:spcPts val="200"/>
              </a:spcAft>
            </a:pPr>
            <a:r>
              <a:rPr sz="1700" b="1">
                <a:solidFill>
                  <a:srgbClr val="0070C0"/>
                </a:solidFill>
                <a:latin typeface="Arial"/>
              </a:rPr>
              <a:t>Viability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22A33"/>
                </a:solidFill>
                <a:latin typeface="Arial"/>
              </a:rPr>
              <a:t>Cheap, fast and reusable across regions: screen hundreds of designs in software, then validate only the winner in CFD — where each case would otherwise take hours.</a:t>
            </a:r>
          </a:p>
          <a:p>
            <a:pPr>
              <a:lnSpc>
                <a:spcPct val="102000"/>
              </a:lnSpc>
              <a:spcBef>
                <a:spcPts val="800"/>
              </a:spcBef>
              <a:spcAft>
                <a:spcPts val="200"/>
              </a:spcAft>
            </a:pPr>
            <a:r>
              <a:rPr sz="1700" b="1">
                <a:solidFill>
                  <a:srgbClr val="0070C0"/>
                </a:solidFill>
                <a:latin typeface="Arial"/>
              </a:rPr>
              <a:t>Potential challenges → how we overcome them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22A33"/>
                </a:solidFill>
                <a:latin typeface="Arial"/>
              </a:rPr>
              <a:t>Sparse climate data for remote posts → accept user CSV + a typical-day generator + built-in region presets.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22A33"/>
                </a:solidFill>
                <a:latin typeface="Arial"/>
              </a:rPr>
              <a:t>A lumped RC model simplifies real 3-D heat flow → validate and calibrate the shortlisted design in ANSYS CFD.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222A33"/>
                </a:solidFill>
                <a:latin typeface="Arial"/>
              </a:rPr>
              <a:t>Material properties vary by source → a sourced, editable material-property database.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HimTaap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280160"/>
            <a:ext cx="562356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36576" bIns="36576">
            <a:normAutofit/>
          </a:bodyPr>
          <a:lstStyle/>
          <a:p>
            <a:pPr marL="342900" marR="0" indent="-342900" algn="just" defTabSz="457200" rtl="0" eaLnBrk="1" fontAlgn="base" latinLnBrk="0" hangingPunct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800" b="1">
                <a:solidFill>
                  <a:srgbClr val="1D6B34"/>
                </a:solidFill>
                <a:latin typeface="Arial"/>
              </a:rPr>
              <a:t>~80% less heating — every month of a real Leh year</a:t>
            </a:r>
          </a:p>
          <a:p>
            <a:pPr>
              <a:lnSpc>
                <a:spcPct val="102000"/>
              </a:lnSpc>
              <a:spcBef>
                <a:spcPts val="300"/>
              </a:spcBef>
              <a:spcAft>
                <a:spcPts val="200"/>
              </a:spcAft>
            </a:pPr>
            <a:r>
              <a:rPr sz="1300" b="0">
                <a:solidFill>
                  <a:srgbClr val="222A33"/>
                </a:solidFill>
                <a:latin typeface="Arial"/>
              </a:rPr>
              <a:t>7,960 vs 39,814 kWh/year to hold 20 °C — driven by a PVGIS Typical Meteorological Year (real clouds and irradiance, not a clear-sky day).</a:t>
            </a:r>
          </a:p>
          <a:p>
            <a:pPr>
              <a:lnSpc>
                <a:spcPct val="102000"/>
              </a:lnSpc>
              <a:spcBef>
                <a:spcPts val="500"/>
              </a:spcBef>
              <a:spcAft>
                <a:spcPts val="200"/>
              </a:spcAft>
            </a:pPr>
            <a:r>
              <a:rPr sz="1500" b="1">
                <a:solidFill>
                  <a:srgbClr val="0070C0"/>
                </a:solidFill>
                <a:latin typeface="Arial"/>
              </a:rPr>
              <a:t>≈ 3,900 L kerosene · ₹3.5 lakh · ~10 t CO₂ — saved per shelter, per year.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200" b="0">
                <a:solidFill>
                  <a:srgbClr val="66707A"/>
                </a:solidFill>
                <a:latin typeface="Arial"/>
              </a:rPr>
              <a:t>(Clear design-day: 82–86% less across Leh, Drass, Siachen, Tawang — Leh 84%.)</a:t>
            </a:r>
          </a:p>
          <a:p>
            <a:pPr>
              <a:lnSpc>
                <a:spcPct val="102000"/>
              </a:lnSpc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0070C0"/>
                </a:solidFill>
                <a:latin typeface="Arial"/>
              </a:rPr>
              <a:t>Who it helps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22A33"/>
                </a:solidFill>
                <a:latin typeface="Arial"/>
              </a:rPr>
              <a:t>Armed forces &amp; border posts · high-altitude communities · disaster relief.</a:t>
            </a:r>
          </a:p>
          <a:p>
            <a:pPr>
              <a:lnSpc>
                <a:spcPct val="102000"/>
              </a:lnSpc>
              <a:spcBef>
                <a:spcPts val="800"/>
              </a:spcBef>
              <a:spcAft>
                <a:spcPts val="200"/>
              </a:spcAft>
            </a:pPr>
            <a:r>
              <a:rPr sz="1600" b="1">
                <a:solidFill>
                  <a:srgbClr val="0070C0"/>
                </a:solidFill>
                <a:latin typeface="Arial"/>
              </a:rPr>
              <a:t>Benefits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22A33"/>
                </a:solidFill>
                <a:latin typeface="Arial"/>
              </a:rPr>
              <a:t>Economic — thousands of litres of kerosene and ₹3.5 lakh saved per shelter each year; designs done in minutes, not months.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22A33"/>
                </a:solidFill>
                <a:latin typeface="Arial"/>
              </a:rPr>
              <a:t>Environmental — ~10 t less CO₂ per shelter per year in a fragile Himalayan ecosystem.</a:t>
            </a:r>
          </a:p>
          <a:p>
            <a:pPr lvl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222A33"/>
                </a:solidFill>
                <a:latin typeface="Arial"/>
              </a:rPr>
              <a:t>Operational &amp; social — energy resilience where supply lines are thin; warmer, safer shelters; fewer cold-related injuries.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HimTaap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easo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17320"/>
            <a:ext cx="5532120" cy="3112595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6309360" y="4575635"/>
            <a:ext cx="55321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50" i="1">
                <a:solidFill>
                  <a:srgbClr val="66707A"/>
                </a:solidFill>
                <a:latin typeface="Arial"/>
              </a:rPr>
              <a:t>All year on real measured weather — monthly heating (design vs baseline hut), % time comfortable, and the fuel / ₹ / CO₂ saved per shelter per year.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40080" y="1371600"/>
            <a:ext cx="1097280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36576" bIns="36576">
            <a:norm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500" b="1">
                <a:solidFill>
                  <a:srgbClr val="222A33"/>
                </a:solidFill>
                <a:latin typeface="Arial"/>
              </a:rPr>
              <a:t>1. </a:t>
            </a:r>
            <a:r>
              <a:rPr sz="1500">
                <a:solidFill>
                  <a:srgbClr val="222A33"/>
                </a:solidFill>
                <a:latin typeface="Arial"/>
              </a:rPr>
              <a:t>pvlib-python (Sandia National Laboratories) — solar position &amp; clear-sky irradiance — </a:t>
            </a:r>
            <a:r>
              <a:rPr sz="1500" u="sng">
                <a:solidFill>
                  <a:srgbClr val="0070C0"/>
                </a:solidFill>
                <a:latin typeface="Arial"/>
                <a:hlinkClick r:id="rId4"/>
              </a:rPr>
              <a:t>https://pvlib-python.readthedocs.io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222A33"/>
                </a:solidFill>
                <a:latin typeface="Arial"/>
              </a:rPr>
              <a:t>2. </a:t>
            </a:r>
            <a:r>
              <a:rPr sz="1500">
                <a:solidFill>
                  <a:srgbClr val="222A33"/>
                </a:solidFill>
                <a:latin typeface="Arial"/>
              </a:rPr>
              <a:t>PVGIS (EU Joint Research Centre) — Typical Meteorological Year, free, no API key — </a:t>
            </a:r>
            <a:r>
              <a:rPr sz="1500" u="sng">
                <a:solidFill>
                  <a:srgbClr val="0070C0"/>
                </a:solidFill>
                <a:latin typeface="Arial"/>
                <a:hlinkClick r:id="rId5"/>
              </a:rPr>
              <a:t>https://re.jrc.ec.europa.eu/pvg_tools/en/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222A33"/>
                </a:solidFill>
                <a:latin typeface="Arial"/>
              </a:rPr>
              <a:t>3. </a:t>
            </a:r>
            <a:r>
              <a:rPr sz="1500">
                <a:solidFill>
                  <a:srgbClr val="222A33"/>
                </a:solidFill>
                <a:latin typeface="Arial"/>
              </a:rPr>
              <a:t>Berdahl, P. &amp; Martin, M. (1984), “Emissivity of clear skies” — long-wave radiative night-sky cooling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222A33"/>
                </a:solidFill>
                <a:latin typeface="Arial"/>
              </a:rPr>
              <a:t>4. </a:t>
            </a:r>
            <a:r>
              <a:rPr sz="1500">
                <a:solidFill>
                  <a:srgbClr val="222A33"/>
                </a:solidFill>
                <a:latin typeface="Arial"/>
              </a:rPr>
              <a:t>ASHRAE Handbook of Fundamentals — sol-air temperature, RC thermal networks, U-values &amp; SHGC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222A33"/>
                </a:solidFill>
                <a:latin typeface="Arial"/>
              </a:rPr>
              <a:t>5. </a:t>
            </a:r>
            <a:r>
              <a:rPr sz="1500">
                <a:solidFill>
                  <a:srgbClr val="222A33"/>
                </a:solidFill>
                <a:latin typeface="Arial"/>
              </a:rPr>
              <a:t>Balcomb, J. D. / U.S. Department of Energy — passive-solar design: Trombe &amp; water walls, thermal mass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222A33"/>
                </a:solidFill>
                <a:latin typeface="Arial"/>
              </a:rPr>
              <a:t>6. </a:t>
            </a:r>
            <a:r>
              <a:rPr sz="1500">
                <a:solidFill>
                  <a:srgbClr val="222A33"/>
                </a:solidFill>
                <a:latin typeface="Arial"/>
              </a:rPr>
              <a:t>DRDO–DIHAR (Defence Institute of High-Altitude Research), Leh — high-altitude habitat &amp; thermal-comfort context</a:t>
            </a:r>
          </a:p>
          <a:p>
            <a:pPr>
              <a:lnSpc>
                <a:spcPct val="102000"/>
              </a:lnSpc>
              <a:spcBef>
                <a:spcPts val="600"/>
              </a:spcBef>
              <a:spcAft>
                <a:spcPts val="200"/>
              </a:spcAft>
            </a:pPr>
            <a:r>
              <a:rPr sz="1500" b="1">
                <a:solidFill>
                  <a:srgbClr val="222A33"/>
                </a:solidFill>
                <a:latin typeface="Arial"/>
              </a:rPr>
              <a:t>7. </a:t>
            </a:r>
            <a:r>
              <a:rPr sz="1500">
                <a:solidFill>
                  <a:srgbClr val="222A33"/>
                </a:solidFill>
                <a:latin typeface="Arial"/>
              </a:rPr>
              <a:t>Project repository — </a:t>
            </a:r>
            <a:r>
              <a:rPr sz="1500" u="sng">
                <a:solidFill>
                  <a:srgbClr val="0070C0"/>
                </a:solidFill>
                <a:latin typeface="Arial"/>
                <a:hlinkClick r:id="rId6"/>
              </a:rPr>
              <a:t>https://github.com/ritikx-36/sih-2026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HimTaap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